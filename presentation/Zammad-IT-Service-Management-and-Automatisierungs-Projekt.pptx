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embeddedFontLst>
    <p:embeddedFont>
      <p:font typeface="Dela Gothic One" panose="020B0604020202020204" charset="-128"/>
      <p:regular r:id="rId19"/>
    </p:embeddedFont>
    <p:embeddedFont>
      <p:font typeface="Consolas" panose="020B0609020204030204" pitchFamily="49" charset="0"/>
      <p:regular r:id="rId20"/>
      <p:bold r:id="rId21"/>
      <p:italic r:id="rId22"/>
      <p:boldItalic r:id="rId23"/>
    </p:embeddedFont>
    <p:embeddedFont>
      <p:font typeface="DM Sans" panose="020F0502020204030204" pitchFamily="2" charset="0"/>
      <p:regular r:id="rId24"/>
    </p:embeddedFont>
    <p:embeddedFont>
      <p:font typeface="DM Sans Bold" panose="020B0604020202020204" charset="0"/>
      <p:regular r:id="rId2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6614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03794" y="914896"/>
            <a:ext cx="6355993" cy="20784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Zammad IT-Service-Management &amp; Automatisierungs-Projekt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5203794" y="3230265"/>
            <a:ext cx="6965577" cy="252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IHK-Abschlusspräsentation · Projektdokumentation 30.08.2026 – 24.09.2026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203794" y="3660676"/>
            <a:ext cx="3099020" cy="1188541"/>
          </a:xfrm>
          <a:prstGeom prst="roundRect">
            <a:avLst>
              <a:gd name="adj" fmla="val 5583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3"/>
          <p:cNvSpPr/>
          <p:nvPr/>
        </p:nvSpPr>
        <p:spPr>
          <a:xfrm>
            <a:off x="5368096" y="3824982"/>
            <a:ext cx="2770416" cy="259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Projektträger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368096" y="4179491"/>
            <a:ext cx="2770416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OfficeLine GmbH (fiktiv) · 85 Mitarbeitende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460766" y="3660676"/>
            <a:ext cx="3099020" cy="1188541"/>
          </a:xfrm>
          <a:prstGeom prst="roundRect">
            <a:avLst>
              <a:gd name="adj" fmla="val 5583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6"/>
          <p:cNvSpPr/>
          <p:nvPr/>
        </p:nvSpPr>
        <p:spPr>
          <a:xfrm>
            <a:off x="8625069" y="3824982"/>
            <a:ext cx="2770416" cy="259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System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625069" y="4179491"/>
            <a:ext cx="2770416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Zammad Helpdesk · Docker Compose · REST-API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203794" y="5007173"/>
            <a:ext cx="6355993" cy="935831"/>
          </a:xfrm>
          <a:prstGeom prst="roundRect">
            <a:avLst>
              <a:gd name="adj" fmla="val 7090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9"/>
          <p:cNvSpPr/>
          <p:nvPr/>
        </p:nvSpPr>
        <p:spPr>
          <a:xfrm>
            <a:off x="5368096" y="5171480"/>
            <a:ext cx="6027388" cy="259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Zeitraum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368096" y="5525988"/>
            <a:ext cx="6027388" cy="252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30.08.2026 – 24.09.2026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1908" y="470198"/>
            <a:ext cx="6355993" cy="974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Ausgangssituation der OfficeLine GmbH</a:t>
            </a:r>
            <a:endParaRPr lang="en-US" sz="3050" dirty="0"/>
          </a:p>
        </p:txBody>
      </p:sp>
      <p:sp>
        <p:nvSpPr>
          <p:cNvPr id="4" name="Shape 1"/>
          <p:cNvSpPr/>
          <p:nvPr/>
        </p:nvSpPr>
        <p:spPr>
          <a:xfrm>
            <a:off x="525251" y="1652786"/>
            <a:ext cx="3210638" cy="4735016"/>
          </a:xfrm>
          <a:prstGeom prst="roundRect">
            <a:avLst>
              <a:gd name="adj" fmla="val 3321"/>
            </a:avLst>
          </a:prstGeom>
          <a:solidFill>
            <a:srgbClr val="C91313">
              <a:alpha val="95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2"/>
          <p:cNvSpPr/>
          <p:nvPr/>
        </p:nvSpPr>
        <p:spPr>
          <a:xfrm>
            <a:off x="673282" y="1791593"/>
            <a:ext cx="2914577" cy="243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Das Unternehmen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73282" y="2173982"/>
            <a:ext cx="2914577" cy="1732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spcAft>
                <a:spcPts val="95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85 Mitarbeitende in internen Fachbereichen: Personal, Buchhaltung, Vertrieb, Geschäftsführung, Lager, Kundenservice.</a:t>
            </a:r>
            <a:endParaRPr lang="en-US" sz="1150" dirty="0"/>
          </a:p>
          <a:p>
            <a:pPr marL="0" indent="0" algn="l">
              <a:lnSpc>
                <a:spcPct val="129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IT-Anfragen kamen unstrukturiert über </a:t>
            </a:r>
            <a:r>
              <a:rPr lang="en-US" sz="115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E-Mail, Telefon, Zuruf, Teams und persönlich</a:t>
            </a:r>
            <a:r>
              <a:rPr lang="en-US" sz="11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– ohne zentrales System.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3996927" y="1791593"/>
            <a:ext cx="2997323" cy="487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Folgen des fehlenden Systems</a:t>
            </a:r>
            <a:endParaRPr lang="en-US" sz="15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52389" y="2439491"/>
            <a:ext cx="222145" cy="22215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478126" y="2434927"/>
            <a:ext cx="2516125" cy="487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Tickets gehen verloren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4478126" y="3060898"/>
            <a:ext cx="2516125" cy="45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Keine Nachverfolgbarkeit, kein Nachweis der Bearbeitung.</a:t>
            </a:r>
            <a:endParaRPr lang="en-US" sz="11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52389" y="3802261"/>
            <a:ext cx="222145" cy="22215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478126" y="3797697"/>
            <a:ext cx="2516125" cy="487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Unklare Zuständigkeiten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4478126" y="4423668"/>
            <a:ext cx="2516125" cy="688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Fehlrouting überlastet Fachabteilungen mit unvollständigen Anfragen.</a:t>
            </a:r>
            <a:endParaRPr lang="en-US" sz="11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52389" y="5394623"/>
            <a:ext cx="222145" cy="22215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478126" y="5390059"/>
            <a:ext cx="2516125" cy="243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Keine Dokumentation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4478126" y="5772448"/>
            <a:ext cx="2516125" cy="45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Lösungen werden mehrfach neu erklärt, kein Wissenstransfer.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1059458"/>
            <a:ext cx="10927878" cy="519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Ziel des Ticketsystems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31908" y="1894979"/>
            <a:ext cx="10927878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Implementierung eines professionellen </a:t>
            </a:r>
            <a:r>
              <a:rPr lang="en-US" sz="12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IT-Service-Desk-Prozesses</a:t>
            </a: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als zentrales „Quality-Gate" für die OfficeLine GmbH – inklusive vollständigem Selbsttest und Nachweis aller Funktionen.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1908" y="2578100"/>
            <a:ext cx="394881" cy="39489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1908" y="3170436"/>
            <a:ext cx="5365219" cy="259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Zentrales Eingangstor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31908" y="3524945"/>
            <a:ext cx="5365219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Alle internen Anfragen laufen zunächst beim IT-Service-Desk auf – Vollständigkeits- und Qualitätsprüfung vor Weiterleitung.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4568" y="2578100"/>
            <a:ext cx="394881" cy="39489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94568" y="3170436"/>
            <a:ext cx="5365219" cy="259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Triade-Konzept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194568" y="3524945"/>
            <a:ext cx="5365219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Strukturierte Aufteilung in </a:t>
            </a:r>
            <a:r>
              <a:rPr lang="en-US" sz="12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Service Desk, First Level</a:t>
            </a: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und </a:t>
            </a:r>
            <a:r>
              <a:rPr lang="en-US" sz="12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Second Level Support</a:t>
            </a: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als operatives Fundament.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1908" y="4346277"/>
            <a:ext cx="394881" cy="39489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31908" y="4938613"/>
            <a:ext cx="5365219" cy="259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Automatisierung &amp; API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631908" y="5293122"/>
            <a:ext cx="5365219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Trigger, Scheduler und REST-API-Integration reduzieren manuelle Routineaufgaben und sichern Ticketqualität.</a:t>
            </a:r>
            <a:endParaRPr lang="en-US" sz="1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94568" y="4346277"/>
            <a:ext cx="394881" cy="39489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194568" y="4938613"/>
            <a:ext cx="5365219" cy="259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Knowledge Base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6194568" y="5293122"/>
            <a:ext cx="5365219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15+ strukturierte KB-Artikel für schnelle Lösungsfindung und nachhaltigen Wissenstransfer im Team.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854472"/>
            <a:ext cx="10927878" cy="519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Technische Umgebung mit Docker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31908" y="1689993"/>
            <a:ext cx="10927878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Die Zammad-Instanz wird als </a:t>
            </a:r>
            <a:r>
              <a:rPr lang="en-US" sz="12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containerisierte Anwendung über Docker Compose</a:t>
            </a: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betrieben. Das Hosting erfolgt über den Schulungsträger; der Projektverantwortliche agiert als User- und Applikations-Administrator.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18207" y="2373114"/>
            <a:ext cx="5498665" cy="3630414"/>
          </a:xfrm>
          <a:prstGeom prst="roundRect">
            <a:avLst>
              <a:gd name="adj" fmla="val 3133"/>
            </a:avLst>
          </a:prstGeom>
          <a:solidFill>
            <a:srgbClr val="510C04">
              <a:alpha val="95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676159" y="2531070"/>
            <a:ext cx="5182760" cy="259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Produktivsystem (Schulungsträger)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76159" y="2948781"/>
            <a:ext cx="5182760" cy="1010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zamat-werner.sky-red-devops.de</a:t>
            </a: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– zentral verwaltete SaaS/DevOps-Umgebung. Kein SSH-/Root-Zugriff auf Host-Ebene aus Sicherheitsgründen. Nur administrative Rechte auf Applikationsebene (User-Admin in Zammad).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76159" y="4101802"/>
            <a:ext cx="5182760" cy="1176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43840" indent="-24384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Zammad Web, Scheduler, Websocket</a:t>
            </a:r>
            <a:endParaRPr lang="en-US" sz="1200" dirty="0"/>
          </a:p>
          <a:p>
            <a:pPr marL="243840" indent="-24384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PostgreSQL (Datenbank)</a:t>
            </a:r>
            <a:endParaRPr lang="en-US" sz="1200" dirty="0"/>
          </a:p>
          <a:p>
            <a:pPr marL="243840" indent="-24384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Elasticsearch (Suchdienst)</a:t>
            </a:r>
            <a:endParaRPr lang="en-US" sz="1200" dirty="0"/>
          </a:p>
          <a:p>
            <a:pPr marL="243840" indent="-24384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Memcached, Backup-Container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94875" y="2531070"/>
            <a:ext cx="5271261" cy="259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Lokale Testumgebung (Eigenleistung)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294875" y="2948781"/>
            <a:ext cx="5271261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Dedizierte lokale Docker-Compose-Umgebung auf Basis </a:t>
            </a:r>
            <a:r>
              <a:rPr lang="en-US" sz="12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ubuntu:22.04</a:t>
            </a: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für API-Tests, Persistenznachweis und Skript-Entwicklung.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94875" y="3596382"/>
            <a:ext cx="5271261" cy="1176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43840" indent="-24384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Container api_automatisierung (Status: Up)</a:t>
            </a:r>
            <a:endParaRPr lang="en-US" sz="1200" dirty="0"/>
          </a:p>
          <a:p>
            <a:pPr marL="243840" indent="-24384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Verzeichnis: docker/docker-compose.yml</a:t>
            </a:r>
            <a:endParaRPr lang="en-US" sz="1200" dirty="0"/>
          </a:p>
          <a:p>
            <a:pPr marL="243840" indent="-24384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.env-Datei via .gitignore geschützt</a:t>
            </a:r>
            <a:endParaRPr lang="en-US" sz="1200" dirty="0"/>
          </a:p>
          <a:p>
            <a:pPr marL="243840" indent="-24384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Git-Versionskontrolle + GitHub-Repository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4875" y="4950718"/>
            <a:ext cx="5271261" cy="875109"/>
          </a:xfrm>
          <a:prstGeom prst="roundRect">
            <a:avLst>
              <a:gd name="adj" fmla="val 7582"/>
            </a:avLst>
          </a:prstGeom>
          <a:solidFill>
            <a:srgbClr val="740B0B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2828" y="5187752"/>
            <a:ext cx="197440" cy="15795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808220" y="5132388"/>
            <a:ext cx="4599964" cy="5117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Deprecation-Warnung behoben: Veraltetes </a:t>
            </a:r>
            <a:r>
              <a:rPr lang="en-US" sz="1200" dirty="0">
                <a:solidFill>
                  <a:srgbClr val="FFFFFF"/>
                </a:solidFill>
                <a:highlight>
                  <a:srgbClr val="17171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version: '3.8'</a:t>
            </a:r>
            <a:r>
              <a:rPr lang="en-US" sz="12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-Attribut entfernt.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11473"/>
            <a:ext cx="10927878" cy="519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Docker Compose Aufbau und Volumes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31908" y="1425972"/>
            <a:ext cx="5271261" cy="259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Container-Struktur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31908" y="1843683"/>
            <a:ext cx="5271261" cy="758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Die </a:t>
            </a:r>
            <a:r>
              <a:rPr lang="en-US" sz="12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docker-compose.yml</a:t>
            </a: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definiert alle 7 Zammad-Kernkomponenten als Services. Jeder Container hat eine klar definierte Aufgabe und kommuniziert über interne Netzwerke.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31908" y="2779514"/>
            <a:ext cx="2556605" cy="1024434"/>
          </a:xfrm>
          <a:prstGeom prst="roundRect">
            <a:avLst>
              <a:gd name="adj" fmla="val 6477"/>
            </a:avLst>
          </a:prstGeom>
          <a:solidFill>
            <a:srgbClr val="0A0A0A">
              <a:alpha val="95000"/>
            </a:srgbClr>
          </a:solidFill>
          <a:ln w="19050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808910" y="2956520"/>
            <a:ext cx="2202601" cy="259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Web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08910" y="3374231"/>
            <a:ext cx="2202601" cy="252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Frontend &amp; API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46466" y="2779514"/>
            <a:ext cx="2556704" cy="1024434"/>
          </a:xfrm>
          <a:prstGeom prst="roundRect">
            <a:avLst>
              <a:gd name="adj" fmla="val 6477"/>
            </a:avLst>
          </a:prstGeom>
          <a:solidFill>
            <a:srgbClr val="0A0A0A">
              <a:alpha val="95000"/>
            </a:srgbClr>
          </a:solidFill>
          <a:ln w="19050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3523467" y="2956520"/>
            <a:ext cx="2202700" cy="259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Scheduler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23467" y="3374231"/>
            <a:ext cx="2202700" cy="252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Zeitgesteuerte Jobs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1908" y="3961904"/>
            <a:ext cx="2556605" cy="1024434"/>
          </a:xfrm>
          <a:prstGeom prst="roundRect">
            <a:avLst>
              <a:gd name="adj" fmla="val 6477"/>
            </a:avLst>
          </a:prstGeom>
          <a:solidFill>
            <a:srgbClr val="0A0A0A">
              <a:alpha val="95000"/>
            </a:srgbClr>
          </a:solidFill>
          <a:ln w="19050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808910" y="4138910"/>
            <a:ext cx="2202601" cy="259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Websocket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08910" y="4556621"/>
            <a:ext cx="2202601" cy="252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Echtzeit-Updates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46466" y="3961904"/>
            <a:ext cx="2556704" cy="1024434"/>
          </a:xfrm>
          <a:prstGeom prst="roundRect">
            <a:avLst>
              <a:gd name="adj" fmla="val 6477"/>
            </a:avLst>
          </a:prstGeom>
          <a:solidFill>
            <a:srgbClr val="0A0A0A">
              <a:alpha val="95000"/>
            </a:srgbClr>
          </a:solidFill>
          <a:ln w="19050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3523467" y="4138910"/>
            <a:ext cx="2202700" cy="259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PostgreSQL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23467" y="4556621"/>
            <a:ext cx="2202700" cy="252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Relationale DB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1908" y="5144294"/>
            <a:ext cx="2556605" cy="1024434"/>
          </a:xfrm>
          <a:prstGeom prst="roundRect">
            <a:avLst>
              <a:gd name="adj" fmla="val 6477"/>
            </a:avLst>
          </a:prstGeom>
          <a:solidFill>
            <a:srgbClr val="0A0A0A">
              <a:alpha val="95000"/>
            </a:srgbClr>
          </a:solidFill>
          <a:ln w="19050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808910" y="5321300"/>
            <a:ext cx="2202601" cy="259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Elasticsearch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08910" y="5739011"/>
            <a:ext cx="2202601" cy="252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Volltextsuche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46466" y="5144294"/>
            <a:ext cx="2556704" cy="1024434"/>
          </a:xfrm>
          <a:prstGeom prst="roundRect">
            <a:avLst>
              <a:gd name="adj" fmla="val 6477"/>
            </a:avLst>
          </a:prstGeom>
          <a:solidFill>
            <a:srgbClr val="0A0A0A">
              <a:alpha val="95000"/>
            </a:srgbClr>
          </a:solidFill>
          <a:ln w="19050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3523467" y="5321300"/>
            <a:ext cx="2202700" cy="259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Memcached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523467" y="5739011"/>
            <a:ext cx="2202700" cy="252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Session-Cache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94875" y="1425972"/>
            <a:ext cx="5271261" cy="259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Persistenz mit Volumes (Aufgabe 5.4)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294875" y="1843683"/>
            <a:ext cx="5271261" cy="2565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100"/>
              </a:spcAft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Docker Volumes entkoppeln Daten vom Container-Lifecycle. Nachweis: Testticket angelegt → </a:t>
            </a:r>
            <a:r>
              <a:rPr lang="en-US" sz="1200" dirty="0">
                <a:solidFill>
                  <a:srgbClr val="FFE5E5"/>
                </a:solidFill>
                <a:highlight>
                  <a:srgbClr val="17171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down</a:t>
            </a: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→ </a:t>
            </a:r>
            <a:r>
              <a:rPr lang="en-US" sz="1200" dirty="0">
                <a:solidFill>
                  <a:srgbClr val="FFE5E5"/>
                </a:solidFill>
                <a:highlight>
                  <a:srgbClr val="17171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-d</a:t>
            </a: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→ Daten vollständig erhalten.</a:t>
            </a:r>
            <a:endParaRPr lang="en-US" sz="1200" dirty="0"/>
          </a:p>
          <a:p>
            <a:pPr marL="0" indent="0" algn="l">
              <a:lnSpc>
                <a:spcPct val="133000"/>
              </a:lnSpc>
              <a:spcAft>
                <a:spcPts val="1100"/>
              </a:spcAft>
              <a:buNone/>
            </a:pPr>
            <a:r>
              <a:rPr lang="en-US" sz="12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Warum relationale DB?</a:t>
            </a: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PostgreSQL speichert Tickets, Benutzer, Rollen, Trigger und Automatisierungsregeln strukturiert und ACID-konform. Ein Verlust bedeutet vollständige Zerstörung der Service-Historie.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Warum dedizierter Suchdienst?</a:t>
            </a: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Elasticsearch ermöglicht Volltextsuche über alle Ticket-Inhalte – für PostgreSQL allein nicht performant umsetzbar.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20303"/>
            <a:ext cx="10927878" cy="519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Supportgruppen und Rollen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31908" y="1355824"/>
            <a:ext cx="10927878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Granulares Berechtigungskonzept nach dem Prinzip der </a:t>
            </a:r>
            <a:r>
              <a:rPr lang="en-US" sz="12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geringsten Rechte (Least Privilege)</a:t>
            </a: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Interne Fachbereiche wurden bewusst als </a:t>
            </a:r>
            <a:r>
              <a:rPr lang="en-US" sz="12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Agenten</a:t>
            </a: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(nicht als Kunden) konfiguriert, um Gruppenpool-Zugriff und Vertreterregelungen zu ermöglichen.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1908" y="2038945"/>
            <a:ext cx="5384963" cy="1940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8910" y="2689820"/>
            <a:ext cx="5030959" cy="259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IT-Leitung (Max Berger)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08910" y="3044329"/>
            <a:ext cx="5030959" cy="758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Vollzugriff: First/Second Level, Hardware, Netzwerk, Software. Nur Änderungsrecht: Service Desk, Systemadmin, Benutzerverwaltung. Kein Zugriff: Buchhaltung, Vertrieb, Personal etc.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74824" y="2038945"/>
            <a:ext cx="5384963" cy="19405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51825" y="2689820"/>
            <a:ext cx="5030959" cy="259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First Level / Service Desk (Nina Koch)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351825" y="3044329"/>
            <a:ext cx="5030959" cy="758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Vollzugriff: First Level, Service Desk. Nur Änderungsrecht (Routing): alle IT-Fachgruppen und alle internen Fachabteilungen. Kein Lesezugriff auf fremde Warteschlangen.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1908" y="4137422"/>
            <a:ext cx="5384963" cy="220027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8910" y="4788297"/>
            <a:ext cx="5030959" cy="519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Second Level / Service Desk (Leon Weber)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808910" y="5402560"/>
            <a:ext cx="5030959" cy="758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Vollzugriff: First/Second Level, Service Desk, Hardware, Netzwerk, Software. Nur Änderungsrecht: IT-Leitung, Systemadmin, kaufmännische Bereiche.</a:t>
            </a:r>
            <a:endParaRPr lang="en-US" sz="1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4824" y="4137422"/>
            <a:ext cx="5384963" cy="220027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351825" y="4788297"/>
            <a:ext cx="5030959" cy="259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Systemadmin (Sven Müller)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6351825" y="5142805"/>
            <a:ext cx="5030959" cy="758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Vollzugriff: Systemadministration, Benutzerverwaltung. Nur Änderungsrecht: alle Support-Gruppen (Routing-Funktion). Kein Zugriff: alle kaufmännischen Fachbereiche.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1065808"/>
            <a:ext cx="10927878" cy="519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Ticketmodell und Ticketqualität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31908" y="1980307"/>
            <a:ext cx="5271261" cy="259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Textbasierte Ticketvorlage (Aufgabe 7.1)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31908" y="2398018"/>
            <a:ext cx="5271261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Universelle Beschreibungsstruktur ohne fest verdrahtete Gruppen oder Prioritäten – damit Automatisierungen ungestört greifen können: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1908" y="3081139"/>
            <a:ext cx="2556605" cy="102443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85108" y="3258145"/>
            <a:ext cx="2126403" cy="259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Ausgangslage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85108" y="3675856"/>
            <a:ext cx="2126403" cy="252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Was ist das Problem?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46466" y="3081139"/>
            <a:ext cx="2556704" cy="102443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599665" y="3258145"/>
            <a:ext cx="2126502" cy="259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Zeitpunkt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3599665" y="3675856"/>
            <a:ext cx="2126502" cy="252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Wann trat es auf?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1908" y="4263529"/>
            <a:ext cx="2556605" cy="102443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85108" y="4440535"/>
            <a:ext cx="2126403" cy="259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Fehlermeldung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885108" y="4858246"/>
            <a:ext cx="2126403" cy="252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Exakter Wortlaut</a:t>
            </a:r>
            <a:endParaRPr lang="en-US" sz="12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46466" y="4263529"/>
            <a:ext cx="2556704" cy="102443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599665" y="4440535"/>
            <a:ext cx="2126502" cy="259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Analyse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3599665" y="4858246"/>
            <a:ext cx="2126502" cy="252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Bisherige Schritte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6181173" y="1822351"/>
            <a:ext cx="5498665" cy="3969742"/>
          </a:xfrm>
          <a:prstGeom prst="roundRect">
            <a:avLst>
              <a:gd name="adj" fmla="val 2865"/>
            </a:avLst>
          </a:prstGeom>
          <a:solidFill>
            <a:srgbClr val="C91313">
              <a:alpha val="95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Text 12"/>
          <p:cNvSpPr/>
          <p:nvPr/>
        </p:nvSpPr>
        <p:spPr>
          <a:xfrm>
            <a:off x="6339126" y="1980307"/>
            <a:ext cx="5182760" cy="259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Ticket-Kategorisierung (Häufigkeit)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6339126" y="2398018"/>
            <a:ext cx="5182760" cy="1176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43840" indent="-243840" algn="l">
              <a:lnSpc>
                <a:spcPct val="133000"/>
              </a:lnSpc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Häufig:</a:t>
            </a:r>
            <a:r>
              <a:rPr lang="en-US" sz="12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Passwort-Reset, Phishing, Druckerprobleme</a:t>
            </a:r>
            <a:endParaRPr lang="en-US" sz="1200" dirty="0"/>
          </a:p>
          <a:p>
            <a:pPr marL="243840" indent="-243840" algn="l">
              <a:lnSpc>
                <a:spcPct val="133000"/>
              </a:lnSpc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Mittelhäufig:</a:t>
            </a:r>
            <a:r>
              <a:rPr lang="en-US" sz="12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Neue Mitarbeiter anlegen, VPN, Software-Anträge</a:t>
            </a:r>
            <a:endParaRPr lang="en-US" sz="1200" dirty="0"/>
          </a:p>
          <a:p>
            <a:pPr marL="243840" indent="-243840" algn="l">
              <a:lnSpc>
                <a:spcPct val="133000"/>
              </a:lnSpc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Selten:</a:t>
            </a:r>
            <a:r>
              <a:rPr lang="en-US" sz="12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Defekte Peripherie, Kontosperrungen</a:t>
            </a:r>
            <a:endParaRPr lang="en-US" sz="1200" dirty="0"/>
          </a:p>
          <a:p>
            <a:pPr marL="243840" indent="-243840" algn="l">
              <a:lnSpc>
                <a:spcPct val="133000"/>
              </a:lnSpc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Sehr selten:</a:t>
            </a:r>
            <a:r>
              <a:rPr lang="en-US" sz="12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Totalausfälle, kritische Infrastruktur-Incidents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6339126" y="3732609"/>
            <a:ext cx="5182760" cy="259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Prioritätsstufen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6339126" y="4150320"/>
            <a:ext cx="5182760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43840" indent="-24384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Standard · Mittel · </a:t>
            </a:r>
            <a:r>
              <a:rPr lang="en-US" sz="120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Kritisch</a:t>
            </a:r>
            <a:r>
              <a:rPr lang="en-US" sz="12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(Totalausfall, sofortiger Handlungsbedarf)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6339126" y="4813697"/>
            <a:ext cx="5182760" cy="259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Erweiterte Status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339126" y="5231408"/>
            <a:ext cx="5182760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43840" indent="-24384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Neu · Offen · </a:t>
            </a:r>
            <a:r>
              <a:rPr lang="en-US" sz="120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Rückfragen an Kunden</a:t>
            </a:r>
            <a:r>
              <a:rPr lang="en-US" sz="12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· </a:t>
            </a:r>
            <a:r>
              <a:rPr lang="en-US" sz="120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Warten auf Kunden</a:t>
            </a:r>
            <a:r>
              <a:rPr lang="en-US" sz="12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· Geschlossen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434380"/>
            <a:ext cx="10927878" cy="259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Beispiel-Ticket: Von Eingang bis Lösung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31908" y="773113"/>
            <a:ext cx="11537463" cy="94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Pflichtticket T01 – </a:t>
            </a:r>
            <a:r>
              <a:rPr lang="en-US" sz="6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„Passwort vergessen"</a:t>
            </a:r>
            <a:r>
              <a:rPr lang="en-US" sz="6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· Anna Keller (Buchhaltung) · Priorität: Mittel · Kategorie: Häufig</a:t>
            </a:r>
            <a:endParaRPr lang="en-US" sz="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624" y="912217"/>
            <a:ext cx="9944347" cy="52673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325583" y="4676762"/>
            <a:ext cx="2633596" cy="6471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20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Eingang im Service Desk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2325583" y="5411332"/>
            <a:ext cx="2633596" cy="368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78000"/>
              </a:lnSpc>
              <a:buNone/>
            </a:pPr>
            <a:r>
              <a:rPr lang="en-US" sz="15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Vollständigkeitsprüfung durch Nina Koch.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363938" y="1126851"/>
            <a:ext cx="2633596" cy="6471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20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Automatisches Routing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363938" y="1861421"/>
            <a:ext cx="2633596" cy="553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78000"/>
              </a:lnSpc>
              <a:buNone/>
            </a:pPr>
            <a:r>
              <a:rPr lang="en-US" sz="15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Trigger routet an Gruppe Benutzerverwaltung (Sven Müller).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264941" y="1311262"/>
            <a:ext cx="2633595" cy="6471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Lösung: Passwort-Reset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264941" y="2045832"/>
            <a:ext cx="2633595" cy="368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15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Durchgeführt nach Support-Prozess KB01.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193802" y="4676933"/>
            <a:ext cx="2588006" cy="323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Abschluss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8193802" y="5087930"/>
            <a:ext cx="2633596" cy="553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15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Standardisierte Rückmeldung; Ticket geschlossen.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31908" y="6223893"/>
            <a:ext cx="3616235" cy="513755"/>
          </a:xfrm>
          <a:prstGeom prst="roundRect">
            <a:avLst>
              <a:gd name="adj" fmla="val 6457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1"/>
          <p:cNvSpPr/>
          <p:nvPr/>
        </p:nvSpPr>
        <p:spPr>
          <a:xfrm>
            <a:off x="717234" y="6309221"/>
            <a:ext cx="3445583" cy="129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Trigger-Automatik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717234" y="6462812"/>
            <a:ext cx="3445583" cy="1895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Keyword „Passwort" im Titel löst automatisch Routing an Gruppe </a:t>
            </a:r>
            <a:r>
              <a:rPr lang="en-US" sz="6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Benutzerverwaltung</a:t>
            </a:r>
            <a:r>
              <a:rPr lang="en-US" sz="6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aus und setzt den entsprechenden Tag.</a:t>
            </a:r>
            <a:endParaRPr lang="en-US" sz="600" dirty="0"/>
          </a:p>
        </p:txBody>
      </p:sp>
      <p:sp>
        <p:nvSpPr>
          <p:cNvPr id="16" name="Shape 13"/>
          <p:cNvSpPr/>
          <p:nvPr/>
        </p:nvSpPr>
        <p:spPr>
          <a:xfrm>
            <a:off x="4287631" y="6223893"/>
            <a:ext cx="3616334" cy="513755"/>
          </a:xfrm>
          <a:prstGeom prst="roundRect">
            <a:avLst>
              <a:gd name="adj" fmla="val 6457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4"/>
          <p:cNvSpPr/>
          <p:nvPr/>
        </p:nvSpPr>
        <p:spPr>
          <a:xfrm>
            <a:off x="4372957" y="6309221"/>
            <a:ext cx="3445682" cy="129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KB-Verknüpfung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372957" y="6462812"/>
            <a:ext cx="3445682" cy="94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Kein neuer KB-Artikel nötig – Standardfall direkt mit bestehendem </a:t>
            </a:r>
            <a:r>
              <a:rPr lang="en-US" sz="6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KB01</a:t>
            </a:r>
            <a:r>
              <a:rPr lang="en-US" sz="6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verknüpft.</a:t>
            </a:r>
            <a:endParaRPr lang="en-US" sz="600" dirty="0"/>
          </a:p>
        </p:txBody>
      </p:sp>
      <p:sp>
        <p:nvSpPr>
          <p:cNvPr id="19" name="Shape 16"/>
          <p:cNvSpPr/>
          <p:nvPr/>
        </p:nvSpPr>
        <p:spPr>
          <a:xfrm>
            <a:off x="7943453" y="6223893"/>
            <a:ext cx="3616334" cy="513755"/>
          </a:xfrm>
          <a:prstGeom prst="roundRect">
            <a:avLst>
              <a:gd name="adj" fmla="val 6457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7"/>
          <p:cNvSpPr/>
          <p:nvPr/>
        </p:nvSpPr>
        <p:spPr>
          <a:xfrm>
            <a:off x="8028779" y="6309221"/>
            <a:ext cx="3445682" cy="129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Textbaustein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8028779" y="6462812"/>
            <a:ext cx="3445682" cy="1895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Standardisierte Abschlussnachricht mit dynamischen Variablen (</a:t>
            </a:r>
            <a:r>
              <a:rPr lang="en-US" sz="600" dirty="0">
                <a:solidFill>
                  <a:srgbClr val="FFE5E5"/>
                </a:solidFill>
                <a:highlight>
                  <a:srgbClr val="17171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ticket.customer.lastname</a:t>
            </a:r>
            <a:r>
              <a:rPr lang="en-US" sz="6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</a:t>
            </a:r>
            <a:r>
              <a:rPr lang="en-US" sz="600" dirty="0">
                <a:solidFill>
                  <a:srgbClr val="FFE5E5"/>
                </a:solidFill>
                <a:highlight>
                  <a:srgbClr val="17171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ticket.id</a:t>
            </a:r>
            <a:r>
              <a:rPr lang="en-US" sz="6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).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460375"/>
            <a:ext cx="10927878" cy="495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Trigger und Automatisierungen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31908" y="1314351"/>
            <a:ext cx="528029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Ereignisgesteuerte Trigger (titelbasiert)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631908" y="1705471"/>
            <a:ext cx="5280290" cy="705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Routing erfolgt ausschließlich über </a:t>
            </a:r>
            <a:r>
              <a:rPr lang="en-US" sz="115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Ticket-Titel und Priorität</a:t>
            </a:r>
            <a:r>
              <a:rPr lang="en-US" sz="11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– nicht über Body-Text. Begründung: Body-Keyword-Matching erzeugt Chaos durch überschneidende Begriffe.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31908" y="2652613"/>
            <a:ext cx="75206" cy="75208"/>
          </a:xfrm>
          <a:prstGeom prst="ellipse">
            <a:avLst/>
          </a:prstGeom>
          <a:solidFill>
            <a:srgbClr val="C9131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850581" y="2572643"/>
            <a:ext cx="5061617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„Passwort" → Benutzerverwaltung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31908" y="3187204"/>
            <a:ext cx="75206" cy="75208"/>
          </a:xfrm>
          <a:prstGeom prst="ellipse">
            <a:avLst/>
          </a:prstGeom>
          <a:solidFill>
            <a:srgbClr val="C9131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850581" y="3107234"/>
            <a:ext cx="5061617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„VPN" → Netzwerk Support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31908" y="3721795"/>
            <a:ext cx="75206" cy="75208"/>
          </a:xfrm>
          <a:prstGeom prst="ellipse">
            <a:avLst/>
          </a:prstGeom>
          <a:solidFill>
            <a:srgbClr val="C9131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850581" y="3641824"/>
            <a:ext cx="5061617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„Drucker" → Hardware Support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31908" y="4256385"/>
            <a:ext cx="75206" cy="75208"/>
          </a:xfrm>
          <a:prstGeom prst="ellipse">
            <a:avLst/>
          </a:prstGeom>
          <a:solidFill>
            <a:srgbClr val="C9131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850581" y="4176415"/>
            <a:ext cx="5061617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„Kritischer Vorfall" → Systemadmin + Sofort-Notiz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31908" y="5038626"/>
            <a:ext cx="75206" cy="75208"/>
          </a:xfrm>
          <a:prstGeom prst="ellipse">
            <a:avLst/>
          </a:prstGeom>
          <a:solidFill>
            <a:srgbClr val="C9131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850581" y="4958655"/>
            <a:ext cx="5061617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„Onboarding" → Priorität automatisch angepasst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631908" y="5820866"/>
            <a:ext cx="75206" cy="75208"/>
          </a:xfrm>
          <a:prstGeom prst="ellipse">
            <a:avLst/>
          </a:prstGeom>
          <a:solidFill>
            <a:srgbClr val="C9131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850581" y="5740896"/>
            <a:ext cx="5061617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Fallback: Service Desk (manuelle Zuweisung)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6177403" y="1170880"/>
            <a:ext cx="5497177" cy="5226745"/>
          </a:xfrm>
          <a:prstGeom prst="roundRect">
            <a:avLst>
              <a:gd name="adj" fmla="val 2074"/>
            </a:avLst>
          </a:prstGeom>
          <a:solidFill>
            <a:srgbClr val="510C04">
              <a:alpha val="95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6327914" y="1314351"/>
            <a:ext cx="5196154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Zeitgesteuerte Automatisierungen (Scheduler)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327914" y="1953121"/>
            <a:ext cx="5196154" cy="4704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Zammad-Scheduler läuft im </a:t>
            </a:r>
            <a:r>
              <a:rPr lang="en-US" sz="115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10-Minuten-Takt</a:t>
            </a:r>
            <a:r>
              <a:rPr lang="en-US" sz="11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und prüft zyklisch definierte Bedingungen: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327914" y="2552700"/>
            <a:ext cx="5196154" cy="991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130000"/>
              </a:lnSpc>
              <a:buSzPct val="100000"/>
              <a:buChar char="•"/>
            </a:pPr>
            <a:r>
              <a:rPr lang="en-US" sz="115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„Alte offene Tickets":</a:t>
            </a:r>
            <a:r>
              <a:rPr lang="en-US" sz="11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Status „offen" + älter als 3 Tage → Tag </a:t>
            </a:r>
            <a:r>
              <a:rPr lang="en-US" sz="1150" dirty="0">
                <a:solidFill>
                  <a:srgbClr val="FFE5E5"/>
                </a:solidFill>
                <a:highlight>
                  <a:srgbClr val="5E191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alt</a:t>
            </a:r>
            <a:r>
              <a:rPr lang="en-US" sz="11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+ interne Notiz „Bitte sofort bearbeiten!"</a:t>
            </a:r>
            <a:endParaRPr lang="en-US" sz="1150" dirty="0"/>
          </a:p>
          <a:p>
            <a:pPr marL="233680" indent="-233680" algn="l">
              <a:lnSpc>
                <a:spcPct val="130000"/>
              </a:lnSpc>
              <a:buSzPct val="100000"/>
              <a:buChar char="•"/>
            </a:pPr>
            <a:r>
              <a:rPr lang="en-US" sz="115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„Warten auf Kunden":</a:t>
            </a:r>
            <a:r>
              <a:rPr lang="en-US" sz="11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Unbereinigte Liegezeiten → Nachfass-Tag automatisch gesetzt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327914" y="3672979"/>
            <a:ext cx="5196154" cy="4704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Verifikation im Live-System: Tickets wurden nach Intervall fehlerfrei markiert, Vorgang revisionssicher mit Zeitstempel dokumentiert.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64455"/>
            <a:ext cx="10927878" cy="479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Knowledge Base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31908" y="1379041"/>
            <a:ext cx="5850486" cy="239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Aufbau und Umfang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31908" y="1752699"/>
            <a:ext cx="5850486" cy="671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Insgesamt </a:t>
            </a:r>
            <a:r>
              <a:rPr lang="en-US" sz="11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23 strukturierte Support-Artikel</a:t>
            </a:r>
            <a:r>
              <a:rPr lang="en-US" sz="11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(KB01–KB23) wurden erstellt, inhaltlich ausgearbeitet und im System eingepflegt. Alle Artikel folgen der strikten Service-Desk-Trennungslogik.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31908" y="2545259"/>
            <a:ext cx="5850486" cy="718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KB01–KB15: Initiale Basis-Artikel (08.09.2026)</a:t>
            </a:r>
            <a:endParaRPr lang="en-US" sz="1100" dirty="0"/>
          </a:p>
          <a:p>
            <a:pPr marL="223520" indent="-223520" algn="l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KB16–KB23: Erweiterung inkl. standardisiertem Ticket-Erstellungsprozess (22.09.2026)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31908" y="3398242"/>
            <a:ext cx="5850486" cy="239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Verantwortung: Maja Klein (KB-Managerin)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31908" y="3771900"/>
            <a:ext cx="5850486" cy="671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Vollzugriff auf KB-relevante Ticket-Warteschlange. Nur Änderungsrecht (Routing-Rückgabe) an First/Second Level und IT-Leitung. Kein Zugriff auf operative Support-Silos oder Fachabteilungen.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43938" y="1379041"/>
            <a:ext cx="4722099" cy="239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Nutzen im ITSM-Prozess</a:t>
            </a:r>
            <a:endParaRPr lang="en-US" sz="15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43938" y="1769467"/>
            <a:ext cx="364024" cy="36403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43938" y="2301280"/>
            <a:ext cx="4722099" cy="239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Ticket-Verknüpfung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843938" y="2674938"/>
            <a:ext cx="4722099" cy="447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Gelöste Tickets werden direkt mit dem passenden KB-Artikel verknüpft.</a:t>
            </a:r>
            <a:endParaRPr lang="en-US" sz="11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43938" y="3391297"/>
            <a:ext cx="364024" cy="36403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843938" y="3923109"/>
            <a:ext cx="4722099" cy="239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Schnellere Lösung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843938" y="4296767"/>
            <a:ext cx="4722099" cy="223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Wiederkehrende Störungen werden ohne Rückfragen direkt behoben.</a:t>
            </a:r>
            <a:endParaRPr lang="en-US" sz="11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43938" y="4789190"/>
            <a:ext cx="364024" cy="36403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843938" y="5321002"/>
            <a:ext cx="4722099" cy="239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Wissenstransfer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843938" y="5694660"/>
            <a:ext cx="4722099" cy="447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Artikel sind für Anwender und Support-Agenten gleichermaßen lesbar.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494407"/>
            <a:ext cx="10927878" cy="479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API-Integration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31908" y="1241921"/>
            <a:ext cx="11537463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Automatisierte Ticket-Generierung via Bash-Skript </a:t>
            </a:r>
            <a:r>
              <a:rPr lang="en-US" sz="1100" dirty="0">
                <a:solidFill>
                  <a:srgbClr val="FFE5E5"/>
                </a:solidFill>
                <a:highlight>
                  <a:srgbClr val="17171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zammad_ticket_sync.sh</a:t>
            </a:r>
            <a:r>
              <a:rPr lang="en-US" sz="11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über die Zammad REST-API (HTTP-POST / cURL).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27037" y="1623219"/>
            <a:ext cx="5496085" cy="4740275"/>
          </a:xfrm>
          <a:prstGeom prst="roundRect">
            <a:avLst>
              <a:gd name="adj" fmla="val 2212"/>
            </a:avLst>
          </a:prstGeom>
          <a:solidFill>
            <a:srgbClr val="C91313">
              <a:alpha val="95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672587" y="1757462"/>
            <a:ext cx="5204985" cy="239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Verwendeter curl-Befehl (vereinfacht)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72587" y="2147888"/>
            <a:ext cx="5204985" cy="2387798"/>
          </a:xfrm>
          <a:prstGeom prst="roundRect">
            <a:avLst>
              <a:gd name="adj" fmla="val 2562"/>
            </a:avLst>
          </a:prstGeom>
          <a:solidFill>
            <a:srgbClr val="D6202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847307" y="2293441"/>
            <a:ext cx="4855545" cy="2096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-X POST "https://[zammad]/api/v1/tickets" \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-H "Authorization: Token token=..." \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-H "Content-Type: application/json" \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-d '{"title": "API Test",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"group": "First-Level-Support",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"customer": "...",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"article": {"body": "...",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"type": "note"}}' \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&gt; ticket_nachweis.txt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72587" y="4686697"/>
            <a:ext cx="5204985" cy="239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Sicherheits-Refactoring (v1.0 → v1.1)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72587" y="5060355"/>
            <a:ext cx="5204985" cy="678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Klartext-Credentials aus v1.0 in </a:t>
            </a:r>
            <a:r>
              <a:rPr lang="en-US" sz="1100" dirty="0">
                <a:solidFill>
                  <a:srgbClr val="FFFFFF"/>
                </a:solidFill>
                <a:highlight>
                  <a:srgbClr val="D620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.env</a:t>
            </a:r>
            <a:r>
              <a:rPr lang="en-US" sz="11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-Datei ausgelagert (</a:t>
            </a:r>
            <a:r>
              <a:rPr lang="en-US" sz="1100" dirty="0">
                <a:solidFill>
                  <a:srgbClr val="FFFFFF"/>
                </a:solidFill>
                <a:highlight>
                  <a:srgbClr val="D620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.gitignore</a:t>
            </a:r>
            <a:r>
              <a:rPr lang="en-US" sz="11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-geschützt). Passwort-Rotation nach Commit v1.1 → alte Credentials vollständig entwertet.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79794" y="1757462"/>
            <a:ext cx="5286342" cy="239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Was löst die Integration?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79794" y="2147888"/>
            <a:ext cx="327612" cy="327620"/>
          </a:xfrm>
          <a:prstGeom prst="roundRect">
            <a:avLst>
              <a:gd name="adj" fmla="val 18671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6328658" y="2167979"/>
            <a:ext cx="229884" cy="2874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741646" y="2197894"/>
            <a:ext cx="4824490" cy="239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Eliminiert manuelle Schritte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741646" y="2571552"/>
            <a:ext cx="4824490" cy="447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Standardisierte Systemmeldungen werden vollautomatisch als Ticket angelegt – keine händische Eingabe.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79794" y="3287911"/>
            <a:ext cx="327612" cy="327620"/>
          </a:xfrm>
          <a:prstGeom prst="roundRect">
            <a:avLst>
              <a:gd name="adj" fmla="val 18671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6328658" y="3308003"/>
            <a:ext cx="229884" cy="2874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741646" y="3337917"/>
            <a:ext cx="4824490" cy="239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Verkürzt Time-to-Resolution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741646" y="3711575"/>
            <a:ext cx="4824490" cy="223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Reaktionszeit sinkt massiv, Übertragungsfehler werden ausgeschlossen.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79794" y="4203998"/>
            <a:ext cx="327612" cy="327620"/>
          </a:xfrm>
          <a:prstGeom prst="roundRect">
            <a:avLst>
              <a:gd name="adj" fmla="val 18671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6328658" y="4224089"/>
            <a:ext cx="229884" cy="2874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741646" y="4254004"/>
            <a:ext cx="4824490" cy="239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Ermöglicht Re-Initialisierung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741646" y="4627662"/>
            <a:ext cx="4824490" cy="447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Nach System-Reset können Testdaten per Skript automatisiert und fehlerfrei per API eingespielt werden.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79794" y="5226546"/>
            <a:ext cx="5286342" cy="985937"/>
          </a:xfrm>
          <a:prstGeom prst="roundRect">
            <a:avLst>
              <a:gd name="adj" fmla="val 6204"/>
            </a:avLst>
          </a:prstGeom>
          <a:solidFill>
            <a:srgbClr val="022349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5345" y="5428456"/>
            <a:ext cx="181963" cy="145554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6752858" y="5383609"/>
            <a:ext cx="4667729" cy="671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Praxisbeispiel: Monitoring-System (PRTG/Zabbix) löst bei Serverausfall automatisch ein Ticket mit Priorität „Kritisch" für die Systemadministration aus.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459284"/>
            <a:ext cx="10927878" cy="332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Backup und Restore-Konzept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631908" y="921742"/>
            <a:ext cx="11537463" cy="132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Während der Projektlaufzeit kam es zu einem </a:t>
            </a:r>
            <a:r>
              <a:rPr lang="en-US" sz="75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kritischen Praxis-Zwischenfall</a:t>
            </a:r>
            <a:r>
              <a:rPr lang="en-US" sz="7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Unvorhergesehene Neuaufsetzung der Server-Infrastruktur durch den Schulungsträger → vollständiger Datenverlust aller Test-Tickets und Konfigurationen.</a:t>
            </a:r>
            <a:endParaRPr lang="en-US" sz="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958" y="1127423"/>
            <a:ext cx="10813779" cy="451246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030670" y="1335382"/>
            <a:ext cx="2587979" cy="323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Infrastruktur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030670" y="1746375"/>
            <a:ext cx="4214665" cy="403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15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Physische VM- und Docker-Volume-Backups durch Hoster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030841" y="2803824"/>
            <a:ext cx="2587979" cy="323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Applikation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030841" y="3214817"/>
            <a:ext cx="4214664" cy="403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15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Git-Versionierung, automatisierte Re-Initialisierung, lokale Sicherung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030841" y="4318539"/>
            <a:ext cx="2587979" cy="323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Failover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030841" y="4729532"/>
            <a:ext cx="4214664" cy="403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15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Schnelle Wiederherstellung nach Neuaufsetzung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31908" y="5712817"/>
            <a:ext cx="3599368" cy="685899"/>
          </a:xfrm>
          <a:prstGeom prst="roundRect">
            <a:avLst>
              <a:gd name="adj" fmla="val 6197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9"/>
          <p:cNvSpPr/>
          <p:nvPr/>
        </p:nvSpPr>
        <p:spPr>
          <a:xfrm>
            <a:off x="739459" y="5820370"/>
            <a:ext cx="3384267" cy="166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Schutzbedarfsanalyse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39459" y="6025654"/>
            <a:ext cx="3384267" cy="265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PostgreSQL: Tickets, Benutzer, Rollen, Trigger. Attachment Storage: Anhänge. Konfiguration: docker-compose.yml + .env.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4296064" y="5712817"/>
            <a:ext cx="3599467" cy="685899"/>
          </a:xfrm>
          <a:prstGeom prst="roundRect">
            <a:avLst>
              <a:gd name="adj" fmla="val 6197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2"/>
          <p:cNvSpPr/>
          <p:nvPr/>
        </p:nvSpPr>
        <p:spPr>
          <a:xfrm>
            <a:off x="4403615" y="5820370"/>
            <a:ext cx="3384366" cy="166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Erkenntnis aus dem Störfall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403615" y="6025654"/>
            <a:ext cx="3384366" cy="265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Saubere Trennung von flüchtigen Daten und reproduzierbaren Prozessen ist geschäftskritisch. Direkte Ursache für Entwicklung des API-Skripts.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7960320" y="5712817"/>
            <a:ext cx="3599467" cy="685899"/>
          </a:xfrm>
          <a:prstGeom prst="roundRect">
            <a:avLst>
              <a:gd name="adj" fmla="val 6197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5"/>
          <p:cNvSpPr/>
          <p:nvPr/>
        </p:nvSpPr>
        <p:spPr>
          <a:xfrm>
            <a:off x="8067870" y="5820370"/>
            <a:ext cx="3384366" cy="166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Git-Nachweis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067870" y="6025654"/>
            <a:ext cx="3384366" cy="265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Über 13 transparente Commits auf GitHub – lückenlose, revisionssichere Versionshistorie aller Skripte und Dokumentationsstände.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464542"/>
            <a:ext cx="10927878" cy="487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Tests und Fehler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31908" y="1298773"/>
            <a:ext cx="5283266" cy="243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Testprotokoll: 25 Testfälle (Aufgabe 11)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31908" y="1681163"/>
            <a:ext cx="5892851" cy="229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Alle 25 definierten Testfälle </a:t>
            </a:r>
            <a:r>
              <a:rPr lang="en-US" sz="115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bestanden</a:t>
            </a:r>
            <a:r>
              <a:rPr lang="en-US" sz="11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Abgedeckte Bereiche: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31908" y="2145605"/>
            <a:ext cx="74015" cy="74017"/>
          </a:xfrm>
          <a:prstGeom prst="ellipse">
            <a:avLst/>
          </a:prstGeom>
          <a:solidFill>
            <a:srgbClr val="C9131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844727" y="2066925"/>
            <a:ext cx="5070447" cy="243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System &amp; Login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44727" y="2449314"/>
            <a:ext cx="5070447" cy="229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Web-Start, Admin-Dashboard, Docker-Persistenz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1908" y="3035201"/>
            <a:ext cx="74015" cy="74017"/>
          </a:xfrm>
          <a:prstGeom prst="ellipse">
            <a:avLst/>
          </a:prstGeom>
          <a:solidFill>
            <a:srgbClr val="C9131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844727" y="2956520"/>
            <a:ext cx="5070447" cy="243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Ticket-Lifecycle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44727" y="3338909"/>
            <a:ext cx="5070447" cy="229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Erstellung, Routing, Priorität, Status, Schließen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31908" y="3924796"/>
            <a:ext cx="74015" cy="74017"/>
          </a:xfrm>
          <a:prstGeom prst="ellipse">
            <a:avLst/>
          </a:prstGeom>
          <a:solidFill>
            <a:srgbClr val="C9131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844727" y="3846116"/>
            <a:ext cx="5070447" cy="243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Trigger &amp; Automatisierung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44727" y="4228505"/>
            <a:ext cx="5070447" cy="229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Passwort, VPN, Drucker, Kritisch, Scheduler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1908" y="4814391"/>
            <a:ext cx="74015" cy="74017"/>
          </a:xfrm>
          <a:prstGeom prst="ellipse">
            <a:avLst/>
          </a:prstGeom>
          <a:solidFill>
            <a:srgbClr val="C9131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844727" y="4735711"/>
            <a:ext cx="5070447" cy="243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API &amp; Sicherheit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44727" y="5118100"/>
            <a:ext cx="5070447" cy="229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REST-Ticketerstellung, HTTP 401, .env-Hardening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31908" y="5703987"/>
            <a:ext cx="74015" cy="74017"/>
          </a:xfrm>
          <a:prstGeom prst="ellipse">
            <a:avLst/>
          </a:prstGeom>
          <a:solidFill>
            <a:srgbClr val="C9131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844727" y="5625306"/>
            <a:ext cx="5070447" cy="243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KB &amp; Textbausteine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44727" y="6007695"/>
            <a:ext cx="5070447" cy="229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Artikel abrufbar, dynamische Variablen korrekt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76213" y="1159966"/>
            <a:ext cx="5496581" cy="5233491"/>
          </a:xfrm>
          <a:prstGeom prst="roundRect">
            <a:avLst>
              <a:gd name="adj" fmla="val 2038"/>
            </a:avLst>
          </a:prstGeom>
          <a:solidFill>
            <a:srgbClr val="510C04">
              <a:alpha val="95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6324243" y="1298773"/>
            <a:ext cx="5200520" cy="243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Tatsächliche Hürden &amp; Präventivmaßnahmen</a:t>
            </a:r>
            <a:endParaRPr lang="en-US" sz="150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24243" y="1698526"/>
            <a:ext cx="2530809" cy="1878509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567522" y="1865610"/>
            <a:ext cx="2120450" cy="487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API-Authentifizierung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6567522" y="2491581"/>
            <a:ext cx="2120450" cy="918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Token-Header falsch → Umstellung auf Basic Auth nach ~10 Testläufen erfolgreich.</a:t>
            </a:r>
            <a:endParaRPr lang="en-US" sz="1150" dirty="0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3855" y="1698526"/>
            <a:ext cx="2530908" cy="1878509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9237134" y="1865610"/>
            <a:ext cx="2120549" cy="487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Sicherheitsvorfall (Git)</a:t>
            </a:r>
            <a:endParaRPr lang="en-US" sz="1500" dirty="0"/>
          </a:p>
        </p:txBody>
      </p:sp>
      <p:sp>
        <p:nvSpPr>
          <p:cNvPr id="27" name="Text 23"/>
          <p:cNvSpPr/>
          <p:nvPr/>
        </p:nvSpPr>
        <p:spPr>
          <a:xfrm>
            <a:off x="9237134" y="2491581"/>
            <a:ext cx="2120549" cy="688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Klartext-Credentials in v1.0 → .env-Refactoring v1.1 + Passwort-Rotation.</a:t>
            </a:r>
            <a:endParaRPr lang="en-US" sz="1150" dirty="0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24243" y="3715841"/>
            <a:ext cx="2530809" cy="1878509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567522" y="3882926"/>
            <a:ext cx="2120450" cy="487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Infrastruktur-Ausfall</a:t>
            </a:r>
            <a:endParaRPr lang="en-US" sz="1500" dirty="0"/>
          </a:p>
        </p:txBody>
      </p:sp>
      <p:sp>
        <p:nvSpPr>
          <p:cNvPr id="30" name="Text 25"/>
          <p:cNvSpPr/>
          <p:nvPr/>
        </p:nvSpPr>
        <p:spPr>
          <a:xfrm>
            <a:off x="6567522" y="4508897"/>
            <a:ext cx="2120450" cy="918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DB-Reset durch Schulungsträger → Business Continuity via Web- und Windows-Backups.</a:t>
            </a:r>
            <a:endParaRPr lang="en-US" sz="1150" dirty="0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3855" y="3715841"/>
            <a:ext cx="2530908" cy="1878509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9237134" y="3882926"/>
            <a:ext cx="2120549" cy="487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OOM / Port-Kollisionen</a:t>
            </a:r>
            <a:endParaRPr lang="en-US" sz="1500" dirty="0"/>
          </a:p>
        </p:txBody>
      </p:sp>
      <p:sp>
        <p:nvSpPr>
          <p:cNvPr id="33" name="Text 27"/>
          <p:cNvSpPr/>
          <p:nvPr/>
        </p:nvSpPr>
        <p:spPr>
          <a:xfrm>
            <a:off x="9237134" y="4508897"/>
            <a:ext cx="2120549" cy="688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Elasticsearch RAM-Bedarf + Port-Belegung → Vorab-Sizing und Port-Analyse (netstat/ss).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03794" y="437059"/>
            <a:ext cx="6355993" cy="470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Was wurde gelernt?</a:t>
            </a:r>
            <a:endParaRPr lang="en-US" sz="2950" dirty="0"/>
          </a:p>
        </p:txBody>
      </p:sp>
      <p:sp>
        <p:nvSpPr>
          <p:cNvPr id="4" name="Shape 1"/>
          <p:cNvSpPr/>
          <p:nvPr/>
        </p:nvSpPr>
        <p:spPr>
          <a:xfrm>
            <a:off x="5203794" y="1102519"/>
            <a:ext cx="322056" cy="322064"/>
          </a:xfrm>
          <a:prstGeom prst="roundRect">
            <a:avLst>
              <a:gd name="adj" fmla="val 18671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2"/>
          <p:cNvSpPr/>
          <p:nvPr/>
        </p:nvSpPr>
        <p:spPr>
          <a:xfrm>
            <a:off x="5655526" y="1151731"/>
            <a:ext cx="5904261" cy="470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Infrastrukturelle Resilienz ist nicht selbstverständlich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655526" y="1700411"/>
            <a:ext cx="5904261" cy="654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Der reale Serverausfall zeigte: Ohne saubere Backup-Strategie und reproduzierbare Prozesse (Git, API-Skript) ist ein Projekt nicht wiederherstellbar. Redundanz ist kein Luxus, sondern Pflicht.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203794" y="2614712"/>
            <a:ext cx="322056" cy="322064"/>
          </a:xfrm>
          <a:prstGeom prst="roundRect">
            <a:avLst>
              <a:gd name="adj" fmla="val 18671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5"/>
          <p:cNvSpPr/>
          <p:nvPr/>
        </p:nvSpPr>
        <p:spPr>
          <a:xfrm>
            <a:off x="5655526" y="2663924"/>
            <a:ext cx="5904261" cy="235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Sicherheit muss von Anfang an mitgedacht werden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5655526" y="2977158"/>
            <a:ext cx="5904261" cy="654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Klartext-Credentials im Git-Repository (v1.0) sind ein kritisches Risiko. Das Refactoring auf .env-Architektur und Passwort-Rotation (v1.1) hat dies vollständig behoben und als Lerneffekt dokumentiert.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203794" y="3891459"/>
            <a:ext cx="322056" cy="322064"/>
          </a:xfrm>
          <a:prstGeom prst="roundRect">
            <a:avLst>
              <a:gd name="adj" fmla="val 18671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8"/>
          <p:cNvSpPr/>
          <p:nvPr/>
        </p:nvSpPr>
        <p:spPr>
          <a:xfrm>
            <a:off x="5655526" y="3940671"/>
            <a:ext cx="5904261" cy="470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Architekturentscheidungen haben weitreichende Folgen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5655526" y="4489351"/>
            <a:ext cx="5904261" cy="654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Die Umstellung interner Fachbereiche von „Kunden" auf „Agenten"-Rolle war ein entscheidender architektonischer Schwenk – ohne ihn wäre die Vertreterregelung und Ticket-Transparenz nicht abbildbar gewesen.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203794" y="5403652"/>
            <a:ext cx="322056" cy="322064"/>
          </a:xfrm>
          <a:prstGeom prst="roundRect">
            <a:avLst>
              <a:gd name="adj" fmla="val 18671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1"/>
          <p:cNvSpPr/>
          <p:nvPr/>
        </p:nvSpPr>
        <p:spPr>
          <a:xfrm>
            <a:off x="5655526" y="5452864"/>
            <a:ext cx="5904261" cy="235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Automatisierung spart Zeit und verhindert Fehler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5655526" y="5766098"/>
            <a:ext cx="5904261" cy="654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Titelbasierte Trigger statt Body-Keyword-Matching garantieren stabilen, vorhersagbaren Workflow. Manuelle Routineaufgaben wurden konsequent durch Scheduler und API-Skript ersetzt.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1908" y="482997"/>
            <a:ext cx="6355993" cy="406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Live Demo</a:t>
            </a:r>
            <a:endParaRPr lang="en-US" sz="2550" dirty="0"/>
          </a:p>
        </p:txBody>
      </p:sp>
      <p:sp>
        <p:nvSpPr>
          <p:cNvPr id="4" name="Text 1"/>
          <p:cNvSpPr/>
          <p:nvPr/>
        </p:nvSpPr>
        <p:spPr>
          <a:xfrm>
            <a:off x="631908" y="1033562"/>
            <a:ext cx="6355993" cy="11205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5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Übergang ins Live-System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631908" y="2298700"/>
            <a:ext cx="246751" cy="1541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01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631908" y="2495550"/>
            <a:ext cx="6355993" cy="12700"/>
          </a:xfrm>
          <a:prstGeom prst="rect">
            <a:avLst/>
          </a:prstGeom>
          <a:solidFill>
            <a:srgbClr val="C9131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4"/>
          <p:cNvSpPr/>
          <p:nvPr/>
        </p:nvSpPr>
        <p:spPr>
          <a:xfrm>
            <a:off x="631908" y="2582565"/>
            <a:ext cx="6355993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Zammad Web-Interface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31908" y="2843411"/>
            <a:ext cx="6355993" cy="175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9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Login als Admin → Übersicht aller Gruppen, Rollen und Ticket-Warteschlangen zeigen.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31908" y="3208040"/>
            <a:ext cx="246751" cy="1541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02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31908" y="3404890"/>
            <a:ext cx="6355993" cy="12700"/>
          </a:xfrm>
          <a:prstGeom prst="rect">
            <a:avLst/>
          </a:prstGeom>
          <a:solidFill>
            <a:srgbClr val="C9131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8"/>
          <p:cNvSpPr/>
          <p:nvPr/>
        </p:nvSpPr>
        <p:spPr>
          <a:xfrm>
            <a:off x="631908" y="3491905"/>
            <a:ext cx="6355993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Trigger-Demonstration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31908" y="3752751"/>
            <a:ext cx="6355993" cy="175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9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Testticket mit Keyword „Passwort" anlegen → automatisches Routing an Benutzerverwaltung live nachweisen.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31908" y="4117380"/>
            <a:ext cx="246751" cy="1541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03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31908" y="4314230"/>
            <a:ext cx="6355993" cy="12700"/>
          </a:xfrm>
          <a:prstGeom prst="rect">
            <a:avLst/>
          </a:prstGeom>
          <a:solidFill>
            <a:srgbClr val="C9131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2"/>
          <p:cNvSpPr/>
          <p:nvPr/>
        </p:nvSpPr>
        <p:spPr>
          <a:xfrm>
            <a:off x="631908" y="4401245"/>
            <a:ext cx="6355993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API-Skript ausführen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31908" y="4662091"/>
            <a:ext cx="6355993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950" dirty="0">
                <a:solidFill>
                  <a:srgbClr val="FFE5E5"/>
                </a:solidFill>
                <a:highlight>
                  <a:srgbClr val="17171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zammad_ticket_sync.sh</a:t>
            </a:r>
            <a:r>
              <a:rPr lang="en-US" sz="9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im Terminal starten → Ticket erscheint automatisch im Service Desk.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31908" y="5033070"/>
            <a:ext cx="246751" cy="1541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04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31908" y="5229920"/>
            <a:ext cx="6355993" cy="12700"/>
          </a:xfrm>
          <a:prstGeom prst="rect">
            <a:avLst/>
          </a:prstGeom>
          <a:solidFill>
            <a:srgbClr val="C9131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9" name="Text 16"/>
          <p:cNvSpPr/>
          <p:nvPr/>
        </p:nvSpPr>
        <p:spPr>
          <a:xfrm>
            <a:off x="631908" y="5316934"/>
            <a:ext cx="6355993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Knowledge Base &amp; Dozentenrolle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31908" y="5577780"/>
            <a:ext cx="6355993" cy="175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9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KB-Artikel KB01–KB23 aufrufen. Dozentenrolle (Lesezugriff) für transparente Bewertung demonstrieren.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31908" y="5954514"/>
            <a:ext cx="6355993" cy="420390"/>
          </a:xfrm>
          <a:prstGeom prst="roundRect">
            <a:avLst>
              <a:gd name="adj" fmla="val 12331"/>
            </a:avLst>
          </a:prstGeom>
          <a:solidFill>
            <a:srgbClr val="740B0B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234" y="6094313"/>
            <a:ext cx="154182" cy="123329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032742" y="6081613"/>
            <a:ext cx="6441418" cy="175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Ergänzen: Information fehlt – individuelle Demo-Reihenfolge nach Absprache mit Prüfer anpassen.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882848"/>
            <a:ext cx="10927878" cy="519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Fazit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31908" y="1718370"/>
            <a:ext cx="10927878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Das Zammad IT-Service-Management-Projekt hat für die </a:t>
            </a:r>
            <a:r>
              <a:rPr lang="en-US" sz="12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OfficeLine GmbH</a:t>
            </a: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eine vollständige, professionelle Supportplattform geschaffen – von der chaotischen Einzelkommunikation zum strukturierten ITSM-Prozess.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31908" y="2401491"/>
            <a:ext cx="5384963" cy="1188541"/>
          </a:xfrm>
          <a:prstGeom prst="roundRect">
            <a:avLst>
              <a:gd name="adj" fmla="val 5583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796211" y="2565797"/>
            <a:ext cx="5056359" cy="259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40 / 40 Tickets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96211" y="2920305"/>
            <a:ext cx="5056359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Alle Pflichttickets erfolgreich bearbeitet: 23 geschlossen, 11 eskaliert, 6 „Warten auf Kunden".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74824" y="2401491"/>
            <a:ext cx="5384963" cy="1188541"/>
          </a:xfrm>
          <a:prstGeom prst="roundRect">
            <a:avLst>
              <a:gd name="adj" fmla="val 5583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6339126" y="2565797"/>
            <a:ext cx="5056359" cy="259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25 / 25 Tests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39126" y="2920305"/>
            <a:ext cx="5056359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Alle definierten Testfälle bestanden – System läuft stabil und ITIL-konform.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1908" y="3747988"/>
            <a:ext cx="5384963" cy="1188541"/>
          </a:xfrm>
          <a:prstGeom prst="roundRect">
            <a:avLst>
              <a:gd name="adj" fmla="val 5583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796211" y="3912295"/>
            <a:ext cx="5056359" cy="259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23 KB-Artikel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96211" y="4266803"/>
            <a:ext cx="5056359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Nachhaltiger Wissenstransfer für Support und Anwender dauerhaft gesichert.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4824" y="3747988"/>
            <a:ext cx="5384963" cy="1188541"/>
          </a:xfrm>
          <a:prstGeom prst="roundRect">
            <a:avLst>
              <a:gd name="adj" fmla="val 5583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6339126" y="3912295"/>
            <a:ext cx="5056359" cy="259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100 % Automatisiert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39126" y="4266803"/>
            <a:ext cx="5056359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 Trigger, Scheduler, REST-API-Skript und 3 Textbausteine im Produktivbetrieb.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837" y="5291931"/>
            <a:ext cx="10690950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Die operative Bearbeitungsphase ist zu </a:t>
            </a:r>
            <a:r>
              <a:rPr lang="en-US" sz="1200" b="1" dirty="0">
                <a:solidFill>
                  <a:srgbClr val="C9131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100 % abgeschlossen</a:t>
            </a: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Alle geforderten Service-Desk-Prozesse wurden erfolgreich implementiert, getestet und revisionssicher dokumentiert. Das System ist bereit für den </a:t>
            </a:r>
            <a:r>
              <a:rPr lang="en-US" sz="1200" dirty="0" err="1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Echtbetrieb</a:t>
            </a: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 err="1">
                <a:solidFill>
                  <a:srgbClr val="FFE5E5"/>
                </a:solidFill>
                <a:latin typeface="DM Sans" pitchFamily="34" charset="0"/>
              </a:rPr>
              <a:t>Erstellt</a:t>
            </a:r>
            <a:r>
              <a:rPr lang="en-US" sz="1200" dirty="0">
                <a:solidFill>
                  <a:srgbClr val="FFE5E5"/>
                </a:solidFill>
                <a:latin typeface="DM Sans" pitchFamily="34" charset="0"/>
              </a:rPr>
              <a:t> </a:t>
            </a:r>
            <a:r>
              <a:rPr lang="en-US" sz="1200" dirty="0" err="1">
                <a:solidFill>
                  <a:srgbClr val="FFE5E5"/>
                </a:solidFill>
                <a:latin typeface="DM Sans" pitchFamily="34" charset="0"/>
              </a:rPr>
              <a:t>durch</a:t>
            </a:r>
            <a:r>
              <a:rPr lang="en-US" sz="1200" dirty="0">
                <a:solidFill>
                  <a:srgbClr val="FFE5E5"/>
                </a:solidFill>
                <a:latin typeface="DM Sans" pitchFamily="34" charset="0"/>
              </a:rPr>
              <a:t> Werner Hause</a:t>
            </a:r>
          </a:p>
          <a:p>
            <a:pPr marL="0" indent="0" algn="l">
              <a:lnSpc>
                <a:spcPct val="133000"/>
              </a:lnSpc>
              <a:buNone/>
            </a:pP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1908" y="5114230"/>
            <a:ext cx="19050" cy="860822"/>
          </a:xfrm>
          <a:prstGeom prst="roundRect">
            <a:avLst>
              <a:gd name="adj" fmla="val 49999"/>
            </a:avLst>
          </a:prstGeom>
          <a:solidFill>
            <a:srgbClr val="C91313"/>
          </a:solidFill>
          <a:ln/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1910</Words>
  <Application>Microsoft Office PowerPoint</Application>
  <PresentationFormat>Breitbild</PresentationFormat>
  <Paragraphs>250</Paragraphs>
  <Slides>16</Slides>
  <Notes>16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16</vt:i4>
      </vt:variant>
    </vt:vector>
  </HeadingPairs>
  <TitlesOfParts>
    <vt:vector size="22" baseType="lpstr">
      <vt:lpstr>Dela Gothic One</vt:lpstr>
      <vt:lpstr>Consolas</vt:lpstr>
      <vt:lpstr>DM Sans</vt:lpstr>
      <vt:lpstr>Arial</vt:lpstr>
      <vt:lpstr>DM Sans Bold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Werner  Hause</cp:lastModifiedBy>
  <cp:revision>2</cp:revision>
  <dcterms:created xsi:type="dcterms:W3CDTF">2026-09-24T16:46:03Z</dcterms:created>
  <dcterms:modified xsi:type="dcterms:W3CDTF">2026-09-24T21:05:02Z</dcterms:modified>
</cp:coreProperties>
</file>